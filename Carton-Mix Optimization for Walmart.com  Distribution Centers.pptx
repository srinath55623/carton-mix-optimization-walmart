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2" r:id="rId4"/>
    <p:sldMasterId id="214748374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IBM Plex Sans"/>
      <p:regular r:id="rId22"/>
      <p:bold r:id="rId23"/>
      <p:italic r:id="rId24"/>
      <p:boldItalic r:id="rId25"/>
    </p:embeddedFont>
    <p:embeddedFont>
      <p:font typeface="Sora SemiBold"/>
      <p:regular r:id="rId26"/>
      <p:bold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IBM Plex Sans Medium"/>
      <p:regular r:id="rId32"/>
      <p:bold r:id="rId33"/>
      <p:italic r:id="rId34"/>
      <p:boldItalic r:id="rId35"/>
    </p:embeddedFont>
    <p:embeddedFont>
      <p:font typeface="Sora Light"/>
      <p:regular r:id="rId36"/>
      <p:bold r:id="rId37"/>
    </p:embeddedFont>
    <p:embeddedFont>
      <p:font typeface="Sora ExtraLight"/>
      <p:regular r:id="rId38"/>
      <p:bold r:id="rId39"/>
    </p:embeddedFont>
    <p:embeddedFont>
      <p:font typeface="Sora"/>
      <p:regular r:id="rId40"/>
      <p:bold r:id="rId41"/>
    </p:embeddedFont>
    <p:embeddedFont>
      <p:font typeface="Sora Medium"/>
      <p:regular r:id="rId42"/>
      <p:bold r:id="rId43"/>
    </p:embeddedFont>
    <p:embeddedFont>
      <p:font typeface="IBM Plex Sans SemiBold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ra-regular.fntdata"/><Relationship Id="rId42" Type="http://schemas.openxmlformats.org/officeDocument/2006/relationships/font" Target="fonts/SoraMedium-regular.fntdata"/><Relationship Id="rId41" Type="http://schemas.openxmlformats.org/officeDocument/2006/relationships/font" Target="fonts/Sora-bold.fntdata"/><Relationship Id="rId44" Type="http://schemas.openxmlformats.org/officeDocument/2006/relationships/font" Target="fonts/IBMPlexSansSemiBold-regular.fntdata"/><Relationship Id="rId43" Type="http://schemas.openxmlformats.org/officeDocument/2006/relationships/font" Target="fonts/SoraMedium-bold.fntdata"/><Relationship Id="rId46" Type="http://schemas.openxmlformats.org/officeDocument/2006/relationships/font" Target="fonts/IBMPlexSansSemiBold-italic.fntdata"/><Relationship Id="rId45" Type="http://schemas.openxmlformats.org/officeDocument/2006/relationships/font" Target="fonts/IBMPlexSans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7" Type="http://schemas.openxmlformats.org/officeDocument/2006/relationships/font" Target="fonts/IBMPlexSans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33" Type="http://schemas.openxmlformats.org/officeDocument/2006/relationships/font" Target="fonts/IBMPlexSansMedium-bold.fntdata"/><Relationship Id="rId32" Type="http://schemas.openxmlformats.org/officeDocument/2006/relationships/font" Target="fonts/IBMPlexSansMedium-regular.fntdata"/><Relationship Id="rId35" Type="http://schemas.openxmlformats.org/officeDocument/2006/relationships/font" Target="fonts/IBMPlexSansMedium-boldItalic.fntdata"/><Relationship Id="rId34" Type="http://schemas.openxmlformats.org/officeDocument/2006/relationships/font" Target="fonts/IBMPlexSansMedium-italic.fntdata"/><Relationship Id="rId37" Type="http://schemas.openxmlformats.org/officeDocument/2006/relationships/font" Target="fonts/SoraLight-bold.fntdata"/><Relationship Id="rId36" Type="http://schemas.openxmlformats.org/officeDocument/2006/relationships/font" Target="fonts/SoraLight-regular.fntdata"/><Relationship Id="rId39" Type="http://schemas.openxmlformats.org/officeDocument/2006/relationships/font" Target="fonts/SoraExtraLight-bold.fntdata"/><Relationship Id="rId38" Type="http://schemas.openxmlformats.org/officeDocument/2006/relationships/font" Target="fonts/SoraExtraLight-regular.fntdata"/><Relationship Id="rId20" Type="http://schemas.openxmlformats.org/officeDocument/2006/relationships/slide" Target="slides/slide14.xml"/><Relationship Id="rId22" Type="http://schemas.openxmlformats.org/officeDocument/2006/relationships/font" Target="fonts/IBMPlexSans-regular.fntdata"/><Relationship Id="rId21" Type="http://schemas.openxmlformats.org/officeDocument/2006/relationships/slide" Target="slides/slide15.xml"/><Relationship Id="rId24" Type="http://schemas.openxmlformats.org/officeDocument/2006/relationships/font" Target="fonts/IBMPlexSans-italic.fntdata"/><Relationship Id="rId23" Type="http://schemas.openxmlformats.org/officeDocument/2006/relationships/font" Target="fonts/IBMPlexSans-bold.fntdata"/><Relationship Id="rId26" Type="http://schemas.openxmlformats.org/officeDocument/2006/relationships/font" Target="fonts/SoraSemiBold-regular.fntdata"/><Relationship Id="rId25" Type="http://schemas.openxmlformats.org/officeDocument/2006/relationships/font" Target="fonts/IBMPlexSans-boldItalic.fntdata"/><Relationship Id="rId28" Type="http://schemas.openxmlformats.org/officeDocument/2006/relationships/font" Target="fonts/Inter-regular.fntdata"/><Relationship Id="rId27" Type="http://schemas.openxmlformats.org/officeDocument/2006/relationships/font" Target="fonts/SoraSemiBold-bold.fntdata"/><Relationship Id="rId29" Type="http://schemas.openxmlformats.org/officeDocument/2006/relationships/font" Target="fonts/Inter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3a955e76203_0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3a955e76203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3a955e7620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3a955e7620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a955e76203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3a955e76203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3a955e76203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3a955e76203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3a955e76203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3a955e76203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a955e76203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3a955e76203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a955e76203_1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3a955e76203_1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3a955e76203_1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3a955e76203_1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3ab81b84311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3ab81b84311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3a955e76203_1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3a955e76203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3ab81b8431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3ab81b8431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3a955e76203_1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3a955e76203_1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3a955e76203_1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3a955e76203_1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3a955e76203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3a955e76203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3a955e76203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3" name="Google Shape;1343;g3a955e76203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8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63" name="Google Shape;363;p48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48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65" name="Google Shape;365;p48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48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367" name="Google Shape;367;p48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368" name="Google Shape;368;p48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369" name="Google Shape;369;p48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370" name="Google Shape;370;p48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371" name="Google Shape;371;p48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372" name="Google Shape;372;p4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73" name="Google Shape;373;p4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74" name="Google Shape;374;p4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75" name="Google Shape;375;p48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376" name="Google Shape;376;p4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77" name="Google Shape;377;p4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78" name="Google Shape;378;p4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79" name="Google Shape;379;p4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80" name="Google Shape;380;p48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381" name="Google Shape;381;p4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82" name="Google Shape;382;p4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83" name="Google Shape;383;p4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84" name="Google Shape;384;p4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85" name="Google Shape;385;p48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86" name="Google Shape;386;p4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87" name="Google Shape;387;p4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88" name="Google Shape;388;p48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89" name="Google Shape;389;p48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49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392" name="Google Shape;392;p49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393" name="Google Shape;393;p49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394" name="Google Shape;394;p4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95" name="Google Shape;395;p4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96" name="Google Shape;396;p4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97" name="Google Shape;397;p4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98" name="Google Shape;398;p4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99" name="Google Shape;399;p49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00" name="Google Shape;400;p4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01" name="Google Shape;401;p4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02" name="Google Shape;402;p4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03" name="Google Shape;403;p4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04" name="Google Shape;404;p4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05" name="Google Shape;405;p49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06" name="Google Shape;406;p4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07" name="Google Shape;407;p4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08" name="Google Shape;408;p4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09" name="Google Shape;409;p4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10" name="Google Shape;410;p4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11" name="Google Shape;411;p49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12" name="Google Shape;412;p4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13" name="Google Shape;413;p4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14" name="Google Shape;414;p4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15" name="Google Shape;415;p4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16" name="Google Shape;416;p4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417" name="Google Shape;417;p49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418" name="Google Shape;418;p49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9" name="Google Shape;419;p49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0" name="Google Shape;420;p49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1" name="Google Shape;421;p49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2" name="Google Shape;422;p49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3" name="Google Shape;423;p49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4" name="Google Shape;424;p49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425" name="Google Shape;425;p4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50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428" name="Google Shape;428;p50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29" name="Google Shape;429;p5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30" name="Google Shape;430;p5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1" name="Google Shape;431;p5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2" name="Google Shape;432;p5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3" name="Google Shape;433;p5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4" name="Google Shape;434;p5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35" name="Google Shape;435;p5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36" name="Google Shape;436;p5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7" name="Google Shape;437;p5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8" name="Google Shape;438;p5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9" name="Google Shape;439;p5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0" name="Google Shape;440;p5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41" name="Google Shape;441;p50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42" name="Google Shape;442;p5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3" name="Google Shape;443;p5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4" name="Google Shape;444;p5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5" name="Google Shape;445;p5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6" name="Google Shape;446;p5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47" name="Google Shape;447;p50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48" name="Google Shape;448;p5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9" name="Google Shape;449;p5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0" name="Google Shape;450;p5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1" name="Google Shape;451;p5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2" name="Google Shape;452;p5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453" name="Google Shape;453;p5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454" name="Google Shape;454;p5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50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6" name="Google Shape;456;p50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7" name="Google Shape;457;p50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8" name="Google Shape;458;p50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59" name="Google Shape;459;p50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5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51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463" name="Google Shape;463;p51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64" name="Google Shape;464;p51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65" name="Google Shape;465;p5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6" name="Google Shape;466;p5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7" name="Google Shape;467;p5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8" name="Google Shape;468;p5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9" name="Google Shape;469;p5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0" name="Google Shape;470;p51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71" name="Google Shape;471;p5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2" name="Google Shape;472;p5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3" name="Google Shape;473;p5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4" name="Google Shape;474;p5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5" name="Google Shape;475;p5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6" name="Google Shape;476;p51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77" name="Google Shape;477;p5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8" name="Google Shape;478;p5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9" name="Google Shape;479;p5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0" name="Google Shape;480;p5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1" name="Google Shape;481;p5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82" name="Google Shape;482;p51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3" name="Google Shape;483;p51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4" name="Google Shape;484;p51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5" name="Google Shape;485;p51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6" name="Google Shape;486;p5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7" name="Google Shape;487;p51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488" name="Google Shape;488;p51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489" name="Google Shape;489;p51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490" name="Google Shape;490;p51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491" name="Google Shape;491;p51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51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51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51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5" name="Google Shape;495;p51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496" name="Google Shape;496;p5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7" name="Google Shape;497;p5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8" name="Google Shape;498;p5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9" name="Google Shape;499;p5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00" name="Google Shape;500;p51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501" name="Google Shape;501;p5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2" name="Google Shape;502;p5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3" name="Google Shape;503;p5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4" name="Google Shape;504;p5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05" name="Google Shape;505;p51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506" name="Google Shape;506;p5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5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5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5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510" name="Google Shape;510;p51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511" name="Google Shape;511;p51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512" name="Google Shape;512;p51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513" name="Google Shape;513;p51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14" name="Google Shape;514;p5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15" name="Google Shape;515;p51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516" name="Google Shape;516;p51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17" name="Google Shape;517;p51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2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0" name="Google Shape;520;p52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52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52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3" name="Google Shape;523;p52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24" name="Google Shape;524;p52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52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52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p52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8" name="Google Shape;528;p52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9" name="Google Shape;529;p52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0" name="Google Shape;530;p52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531" name="Google Shape;531;p52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532" name="Google Shape;532;p52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533" name="Google Shape;533;p52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534" name="Google Shape;534;p52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535" name="Google Shape;535;p52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3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38" name="Google Shape;538;p53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39" name="Google Shape;539;p53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0" name="Google Shape;540;p5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41" name="Google Shape;541;p53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542" name="Google Shape;542;p53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43" name="Google Shape;543;p5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4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546" name="Google Shape;546;p54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547" name="Google Shape;547;p54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548" name="Google Shape;548;p54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549" name="Google Shape;549;p54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0" name="Google Shape;550;p5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1" name="Google Shape;551;p5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2" name="Google Shape;552;p5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3" name="Google Shape;553;p5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54" name="Google Shape;554;p54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555" name="Google Shape;555;p54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6" name="Google Shape;556;p5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7" name="Google Shape;557;p5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8" name="Google Shape;558;p5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59" name="Google Shape;559;p5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560" name="Google Shape;560;p54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61" name="Google Shape;561;p54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2" name="Google Shape;562;p54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3" name="Google Shape;563;p54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4" name="Google Shape;564;p5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5" name="Google Shape;565;p54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6" name="Google Shape;566;p5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5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9" name="Google Shape;569;p55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0" name="Google Shape;570;p55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571" name="Google Shape;571;p55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2" name="Google Shape;572;p55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4" name="Google Shape;574;p56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575" name="Google Shape;575;p56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76" name="Google Shape;576;p56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7" name="Google Shape;577;p56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8" name="Google Shape;578;p56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9" name="Google Shape;579;p56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0" name="Google Shape;580;p56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81" name="Google Shape;581;p56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82" name="Google Shape;582;p5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3" name="Google Shape;583;p5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4" name="Google Shape;584;p56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5" name="Google Shape;585;p56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86" name="Google Shape;586;p56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87" name="Google Shape;587;p5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8" name="Google Shape;588;p5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9" name="Google Shape;589;p56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90" name="Google Shape;590;p56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91" name="Google Shape;591;p5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2" name="Google Shape;592;p56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3" name="Google Shape;593;p5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57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597" name="Google Shape;597;p57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598" name="Google Shape;598;p57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599" name="Google Shape;599;p57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600" name="Google Shape;600;p57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01" name="Google Shape;601;p57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2" name="Google Shape;602;p57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3" name="Google Shape;603;p57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4" name="Google Shape;604;p57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57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p57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07" name="Google Shape;607;p57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608" name="Google Shape;608;p57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609" name="Google Shape;609;p57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610" name="Google Shape;610;p57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8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3" name="Google Shape;613;p58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614" name="Google Shape;614;p58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615" name="Google Shape;615;p58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616" name="Google Shape;616;p58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7" name="Google Shape;617;p58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8" name="Google Shape;618;p58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9" name="Google Shape;619;p58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0" name="Google Shape;620;p58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1" name="Google Shape;621;p58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2" name="Google Shape;622;p58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3" name="Google Shape;623;p58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24" name="Google Shape;624;p58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5" name="Google Shape;625;p58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626" name="Google Shape;626;p58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7" name="Google Shape;627;p58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9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630" name="Google Shape;630;p59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631" name="Google Shape;631;p59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632" name="Google Shape;632;p59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633" name="Google Shape;633;p59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4" name="Google Shape;634;p59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5" name="Google Shape;635;p59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59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7" name="Google Shape;637;p59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638" name="Google Shape;638;p59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9" name="Google Shape;639;p59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0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42" name="Google Shape;642;p60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643" name="Google Shape;643;p60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644" name="Google Shape;644;p60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645" name="Google Shape;645;p6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46" name="Google Shape;646;p6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47" name="Google Shape;647;p6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48" name="Google Shape;648;p60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49" name="Google Shape;649;p60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650" name="Google Shape;650;p6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1" name="Google Shape;651;p6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2" name="Google Shape;652;p6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3" name="Google Shape;653;p60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54" name="Google Shape;654;p60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655" name="Google Shape;655;p6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6" name="Google Shape;656;p6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7" name="Google Shape;657;p6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8" name="Google Shape;658;p60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59" name="Google Shape;659;p60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660" name="Google Shape;660;p60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661" name="Google Shape;661;p60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2" name="Google Shape;662;p60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6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4" name="Google Shape;664;p6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61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6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8" name="Google Shape;668;p61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69" name="Google Shape;669;p6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2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2" name="Google Shape;672;p62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73" name="Google Shape;673;p62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74" name="Google Shape;674;p62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75" name="Google Shape;675;p62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76" name="Google Shape;676;p62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77" name="Google Shape;677;p62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78" name="Google Shape;678;p6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79" name="Google Shape;679;p62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0" name="Google Shape;680;p62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1" name="Google Shape;681;p62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682" name="Google Shape;682;p62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683" name="Google Shape;683;p62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684" name="Google Shape;684;p62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685" name="Google Shape;685;p62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686" name="Google Shape;686;p62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687" name="Google Shape;687;p62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688" name="Google Shape;688;p62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689" name="Google Shape;689;p62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690" name="Google Shape;690;p62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691" name="Google Shape;691;p62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3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4" name="Google Shape;694;p63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95" name="Google Shape;695;p63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96" name="Google Shape;696;p63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97" name="Google Shape;697;p63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98" name="Google Shape;698;p63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99" name="Google Shape;699;p63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00" name="Google Shape;700;p63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01" name="Google Shape;701;p63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2" name="Google Shape;702;p63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3" name="Google Shape;703;p63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4" name="Google Shape;704;p63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5" name="Google Shape;705;p63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6" name="Google Shape;706;p63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7" name="Google Shape;707;p63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8" name="Google Shape;708;p63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9" name="Google Shape;709;p63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0" name="Google Shape;710;p63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1" name="Google Shape;711;p63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2" name="Google Shape;712;p63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3" name="Google Shape;713;p63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4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6" name="Google Shape;716;p64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7" name="Google Shape;717;p64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718" name="Google Shape;718;p64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719" name="Google Shape;719;p6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720" name="Google Shape;720;p6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1" name="Google Shape;721;p6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2" name="Google Shape;722;p6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6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6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5" name="Google Shape;725;p6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726" name="Google Shape;726;p6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7" name="Google Shape;727;p6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6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6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6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731" name="Google Shape;731;p6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6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6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6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5" name="Google Shape;735;p64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36" name="Google Shape;736;p64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37" name="Google Shape;737;p64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738" name="Google Shape;738;p64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739" name="Google Shape;739;p64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740" name="Google Shape;740;p64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1" name="Google Shape;741;p64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2" name="Google Shape;742;p64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3" name="Google Shape;743;p64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744" name="Google Shape;744;p64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745" name="Google Shape;745;p64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746" name="Google Shape;746;p64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64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64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5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51" name="Google Shape;751;p65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52" name="Google Shape;752;p65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53" name="Google Shape;753;p65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54" name="Google Shape;754;p65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55" name="Google Shape;755;p65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56" name="Google Shape;756;p65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57" name="Google Shape;757;p65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58" name="Google Shape;758;p65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59" name="Google Shape;759;p65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65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1" name="Google Shape;761;p65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2" name="Google Shape;762;p65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3" name="Google Shape;763;p65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4" name="Google Shape;764;p65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5" name="Google Shape;765;p65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6" name="Google Shape;766;p65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67" name="Google Shape;767;p65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6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770" name="Google Shape;770;p66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771" name="Google Shape;771;p66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72" name="Google Shape;772;p6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73" name="Google Shape;773;p66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4" name="Google Shape;774;p66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5" name="Google Shape;775;p66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6" name="Google Shape;776;p66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7" name="Google Shape;777;p66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8" name="Google Shape;778;p66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779" name="Google Shape;779;p66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780" name="Google Shape;780;p66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781" name="Google Shape;781;p66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782" name="Google Shape;782;p66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783" name="Google Shape;783;p66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5" name="Google Shape;785;p67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786" name="Google Shape;786;p67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787" name="Google Shape;787;p67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8" name="Google Shape;788;p67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9" name="Google Shape;789;p67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0" name="Google Shape;790;p67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1" name="Google Shape;791;p67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92" name="Google Shape;792;p67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793" name="Google Shape;793;p6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4" name="Google Shape;794;p6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5" name="Google Shape;795;p6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6" name="Google Shape;796;p67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97" name="Google Shape;797;p67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798" name="Google Shape;798;p6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9" name="Google Shape;799;p6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0" name="Google Shape;800;p6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1" name="Google Shape;801;p67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802" name="Google Shape;802;p6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03" name="Google Shape;803;p67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04" name="Google Shape;804;p67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05" name="Google Shape;805;p67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6" name="Google Shape;806;p67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807" name="Google Shape;807;p67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808" name="Google Shape;808;p6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0" name="Google Shape;810;p68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811" name="Google Shape;811;p6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812" name="Google Shape;812;p6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13" name="Google Shape;813;p6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14" name="Google Shape;814;p6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15" name="Google Shape;815;p6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16" name="Google Shape;816;p6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17" name="Google Shape;817;p6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818" name="Google Shape;818;p6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19" name="Google Shape;819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20" name="Google Shape;820;p6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21" name="Google Shape;821;p6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22" name="Google Shape;822;p6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823" name="Google Shape;823;p6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24" name="Google Shape;824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25" name="Google Shape;825;p6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26" name="Google Shape;826;p6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827" name="Google Shape;827;p68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28" name="Google Shape;828;p68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29" name="Google Shape;829;p68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830" name="Google Shape;830;p68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831" name="Google Shape;831;p68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68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68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4" name="Google Shape;834;p68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35" name="Google Shape;835;p68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836" name="Google Shape;836;p68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37" name="Google Shape;837;p68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838" name="Google Shape;838;p68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839" name="Google Shape;839;p68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40" name="Google Shape;840;p68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841" name="Google Shape;841;p6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2" name="Google Shape;842;p68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843" name="Google Shape;843;p68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844" name="Google Shape;844;p68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45" name="Google Shape;845;p6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7" name="Google Shape;847;p69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848" name="Google Shape;848;p69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849" name="Google Shape;849;p69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850" name="Google Shape;850;p69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1" name="Google Shape;851;p69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2" name="Google Shape;852;p69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3" name="Google Shape;853;p69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4" name="Google Shape;854;p69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55" name="Google Shape;855;p69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56" name="Google Shape;856;p6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7" name="Google Shape;857;p6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8" name="Google Shape;858;p6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9" name="Google Shape;859;p6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0" name="Google Shape;860;p6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61" name="Google Shape;861;p69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862" name="Google Shape;862;p69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3" name="Google Shape;863;p6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4" name="Google Shape;864;p6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5" name="Google Shape;865;p6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6" name="Google Shape;866;p6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67" name="Google Shape;867;p69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68" name="Google Shape;868;p6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9" name="Google Shape;869;p6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0" name="Google Shape;870;p6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1" name="Google Shape;871;p6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72" name="Google Shape;872;p69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873" name="Google Shape;873;p69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874" name="Google Shape;874;p69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75" name="Google Shape;875;p69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6" name="Google Shape;876;p6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7" name="Google Shape;877;p6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8" name="Google Shape;878;p6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9" name="Google Shape;879;p6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0" name="Google Shape;880;p6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81" name="Google Shape;881;p69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82" name="Google Shape;882;p6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3" name="Google Shape;883;p6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4" name="Google Shape;884;p6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5" name="Google Shape;885;p6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6" name="Google Shape;886;p6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87" name="Google Shape;887;p69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88" name="Google Shape;888;p6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9" name="Google Shape;889;p6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0" name="Google Shape;890;p6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1" name="Google Shape;891;p6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2" name="Google Shape;892;p6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3" name="Google Shape;893;p69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94" name="Google Shape;894;p6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5" name="Google Shape;895;p6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6" name="Google Shape;896;p6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7" name="Google Shape;897;p6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8" name="Google Shape;898;p6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99" name="Google Shape;899;p69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900" name="Google Shape;900;p69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1" name="Google Shape;901;p69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2" name="Google Shape;902;p69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03" name="Google Shape;903;p69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04" name="Google Shape;904;p6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05" name="Google Shape;905;p69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06" name="Google Shape;906;p69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07" name="Google Shape;907;p69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08" name="Google Shape;908;p69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09" name="Google Shape;909;p69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10" name="Google Shape;910;p69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11" name="Google Shape;911;p69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12" name="Google Shape;912;p69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13" name="Google Shape;913;p69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14" name="Google Shape;914;p69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15" name="Google Shape;915;p69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16" name="Google Shape;916;p69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0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9" name="Google Shape;919;p70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70"/>
          <p:cNvSpPr txBox="1"/>
          <p:nvPr>
            <p:ph idx="1" type="subTitle"/>
          </p:nvPr>
        </p:nvSpPr>
        <p:spPr>
          <a:xfrm>
            <a:off x="115025" y="1739375"/>
            <a:ext cx="4018500" cy="2713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1" name="Google Shape;921;p70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2" name="Google Shape;922;p70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3" name="Google Shape;923;p70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4" name="Google Shape;924;p70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5" name="Google Shape;925;p70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926" name="Google Shape;926;p70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27" name="Google Shape;927;p70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8" name="Google Shape;928;p70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9" name="Google Shape;929;p70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30" name="Google Shape;930;p70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31" name="Google Shape;931;p70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32" name="Google Shape;932;p70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33" name="Google Shape;933;p70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34" name="Google Shape;934;p70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35" name="Google Shape;935;p70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71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8" name="Google Shape;938;p71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9" name="Google Shape;939;p71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40" name="Google Shape;940;p71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41" name="Google Shape;941;p71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42" name="Google Shape;942;p7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43" name="Google Shape;943;p71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44" name="Google Shape;944;p71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6" name="Google Shape;946;p72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947" name="Google Shape;947;p72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948" name="Google Shape;948;p72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949" name="Google Shape;949;p72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950" name="Google Shape;950;p7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951" name="Google Shape;951;p72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952" name="Google Shape;952;p7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953" name="Google Shape;953;p7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954" name="Google Shape;954;p7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955" name="Google Shape;955;p72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956" name="Google Shape;956;p72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957" name="Google Shape;957;p7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958" name="Google Shape;958;p7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959" name="Google Shape;959;p72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960" name="Google Shape;960;p72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961" name="Google Shape;961;p7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962" name="Google Shape;962;p72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963" name="Google Shape;963;p7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64" name="Google Shape;964;p72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65" name="Google Shape;965;p72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6" name="Google Shape;966;p72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67" name="Google Shape;967;p72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68" name="Google Shape;968;p72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969" name="Google Shape;969;p72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970" name="Google Shape;970;p72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971" name="Google Shape;971;p72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972" name="Google Shape;972;p72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973" name="Google Shape;973;p72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974" name="Google Shape;974;p7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6" name="Google Shape;976;p73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977" name="Google Shape;977;p73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978" name="Google Shape;978;p73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979" name="Google Shape;979;p7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0" name="Google Shape;980;p73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981" name="Google Shape;981;p73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982" name="Google Shape;982;p73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983" name="Google Shape;983;p73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984" name="Google Shape;984;p73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985" name="Google Shape;985;p73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986" name="Google Shape;986;p73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987" name="Google Shape;987;p73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988" name="Google Shape;988;p73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989" name="Google Shape;989;p73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990" name="Google Shape;990;p73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91" name="Google Shape;991;p73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992" name="Google Shape;992;p73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993" name="Google Shape;993;p73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94" name="Google Shape;994;p73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995" name="Google Shape;995;p73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96" name="Google Shape;996;p73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997" name="Google Shape;997;p73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998" name="Google Shape;998;p73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999" name="Google Shape;999;p73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000" name="Google Shape;1000;p73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1001" name="Google Shape;1001;p73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1002" name="Google Shape;1002;p73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03" name="Google Shape;1003;p73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1004" name="Google Shape;1004;p73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005" name="Google Shape;1005;p73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006" name="Google Shape;1006;p73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07" name="Google Shape;1007;p73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08" name="Google Shape;1008;p73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009" name="Google Shape;1009;p73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010" name="Google Shape;1010;p73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11" name="Google Shape;1011;p73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012" name="Google Shape;1012;p73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013" name="Google Shape;1013;p73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14" name="Google Shape;1014;p73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5" name="Google Shape;1015;p73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1016" name="Google Shape;1016;p73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7" name="Google Shape;1017;p73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8" name="Google Shape;1018;p73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9" name="Google Shape;1019;p73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20" name="Google Shape;1020;p73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21" name="Google Shape;1021;p73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2" name="Google Shape;1022;p73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23" name="Google Shape;1023;p73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24" name="Google Shape;1024;p73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74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27" name="Google Shape;1027;p74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28" name="Google Shape;1028;p74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29" name="Google Shape;1029;p74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1030" name="Google Shape;1030;p74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1031" name="Google Shape;1031;p74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1032" name="Google Shape;1032;p74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33" name="Google Shape;1033;p7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034" name="Google Shape;1034;p74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1035" name="Google Shape;1035;p74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36" name="Google Shape;1036;p7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37" name="Google Shape;1037;p7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38" name="Google Shape;1038;p7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039" name="Google Shape;1039;p74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1040" name="Google Shape;1040;p7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41" name="Google Shape;1041;p7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42" name="Google Shape;1042;p7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043" name="Google Shape;1043;p74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1044" name="Google Shape;1044;p74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45" name="Google Shape;1045;p74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46" name="Google Shape;1046;p7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47" name="Google Shape;1047;p7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48" name="Google Shape;1048;p7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049" name="Google Shape;1049;p74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0" name="Google Shape;1050;p74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1" name="Google Shape;1051;p74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2" name="Google Shape;1052;p74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3" name="Google Shape;1053;p7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54" name="Google Shape;1054;p74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55" name="Google Shape;1055;p74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56" name="Google Shape;1056;p74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7" name="Google Shape;1057;p74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8" name="Google Shape;1058;p74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9" name="Google Shape;1059;p74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0" name="Google Shape;1060;p7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75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063" name="Google Shape;1063;p75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064" name="Google Shape;1064;p75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065" name="Google Shape;1065;p75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066" name="Google Shape;1066;p75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67" name="Google Shape;1067;p75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1068" name="Google Shape;1068;p75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69" name="Google Shape;1069;p75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1070" name="Google Shape;1070;p75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1071" name="Google Shape;1071;p75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72" name="Google Shape;1072;p7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073" name="Google Shape;1073;p75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1074" name="Google Shape;1074;p75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75" name="Google Shape;1075;p7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76" name="Google Shape;1076;p7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77" name="Google Shape;1077;p75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078" name="Google Shape;1078;p75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1079" name="Google Shape;1079;p7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0" name="Google Shape;1080;p7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1" name="Google Shape;1081;p7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082" name="Google Shape;1082;p75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1083" name="Google Shape;1083;p75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4" name="Google Shape;1084;p75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5" name="Google Shape;1085;p7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6" name="Google Shape;1086;p7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087" name="Google Shape;1087;p75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088" name="Google Shape;1088;p75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89" name="Google Shape;1089;p75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90" name="Google Shape;1090;p75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91" name="Google Shape;1091;p75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92" name="Google Shape;1092;p75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93" name="Google Shape;1093;p75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94" name="Google Shape;1094;p75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95" name="Google Shape;1095;p75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96" name="Google Shape;1096;p75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7" name="Google Shape;1097;p75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8" name="Google Shape;1098;p75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9" name="Google Shape;1099;p75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00" name="Google Shape;1100;p75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01" name="Google Shape;1101;p75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76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104" name="Google Shape;1104;p76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1105" name="Google Shape;1105;p76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1106" name="Google Shape;1106;p7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07" name="Google Shape;1107;p7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08" name="Google Shape;1108;p7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09" name="Google Shape;1109;p7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10" name="Google Shape;1110;p7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11" name="Google Shape;1111;p7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12" name="Google Shape;1112;p7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13" name="Google Shape;1113;p7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14" name="Google Shape;1114;p7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15" name="Google Shape;1115;p7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16" name="Google Shape;1116;p7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17" name="Google Shape;1117;p76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1118" name="Google Shape;1118;p7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19" name="Google Shape;1119;p7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20" name="Google Shape;1120;p7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21" name="Google Shape;1121;p76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22" name="Google Shape;1122;p76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1123" name="Google Shape;1123;p7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24" name="Google Shape;1124;p7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25" name="Google Shape;1125;p7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26" name="Google Shape;1126;p7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27" name="Google Shape;1127;p7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28" name="Google Shape;1128;p76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29" name="Google Shape;1129;p76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30" name="Google Shape;1130;p76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31" name="Google Shape;1131;p76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32" name="Google Shape;1132;p76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33" name="Google Shape;1133;p76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34" name="Google Shape;1134;p76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35" name="Google Shape;1135;p76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36" name="Google Shape;1136;p76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37" name="Google Shape;1137;p76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38" name="Google Shape;1138;p7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7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41" name="Google Shape;1141;p7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7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46" name="Google Shape;1146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49" name="Google Shape;1149;p8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50" name="Google Shape;1150;p8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8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55" name="Google Shape;1155;p8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8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8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60" name="Google Shape;1160;p8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61" name="Google Shape;1161;p8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8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8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7" name="Google Shape;1167;p8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68" name="Google Shape;1168;p8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69" name="Google Shape;1169;p8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0" name="Google Shape;1170;p8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1" name="Google Shape;1171;p8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2" name="Google Shape;1172;p8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5" name="Google Shape;1175;p8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76" name="Google Shape;1176;p8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8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9" name="Google Shape;1179;p8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0" name="Google Shape;1180;p8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1" name="Google Shape;1181;p8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82" name="Google Shape;1182;p8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9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5" name="Google Shape;1185;p9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6" name="Google Shape;1186;p9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87" name="Google Shape;1187;p9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88" name="Google Shape;1188;p9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89" name="Google Shape;1189;p9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90" name="Google Shape;1190;p9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9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93" name="Google Shape;1193;p9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94" name="Google Shape;1194;p9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95" name="Google Shape;1195;p9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96" name="Google Shape;1196;p9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7" name="Google Shape;1197;p9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98" name="Google Shape;1198;p9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99" name="Google Shape;1199;p9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00" name="Google Shape;1200;p9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3" name="Google Shape;1203;p9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9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06" name="Google Shape;1206;p9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07" name="Google Shape;1207;p9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08" name="Google Shape;1208;p9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09" name="Google Shape;1209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0" name="Google Shape;1210;p9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11" name="Google Shape;1211;p9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9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14" name="Google Shape;1214;p9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5" name="Google Shape;1215;p9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6" name="Google Shape;1216;p9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17" name="Google Shape;1217;p9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8" name="Google Shape;1218;p9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19" name="Google Shape;1219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0" name="Google Shape;1220;p9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21" name="Google Shape;1221;p9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22" name="Google Shape;1222;p9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9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9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7" name="Google Shape;1227;p9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8" name="Google Shape;1228;p9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9" name="Google Shape;1229;p9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0" name="Google Shape;1230;p9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1" name="Google Shape;1231;p9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2" name="Google Shape;1232;p9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3" name="Google Shape;1233;p9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4" name="Google Shape;1234;p9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5" name="Google Shape;1235;p9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5.xml"/><Relationship Id="rId42" Type="http://schemas.openxmlformats.org/officeDocument/2006/relationships/slideLayout" Target="../slideLayouts/slideLayout87.xml"/><Relationship Id="rId41" Type="http://schemas.openxmlformats.org/officeDocument/2006/relationships/slideLayout" Target="../slideLayouts/slideLayout86.xml"/><Relationship Id="rId44" Type="http://schemas.openxmlformats.org/officeDocument/2006/relationships/slideLayout" Target="../slideLayouts/slideLayout89.xml"/><Relationship Id="rId43" Type="http://schemas.openxmlformats.org/officeDocument/2006/relationships/slideLayout" Target="../slideLayouts/slideLayout88.xml"/><Relationship Id="rId46" Type="http://schemas.openxmlformats.org/officeDocument/2006/relationships/slideLayout" Target="../slideLayouts/slideLayout91.xml"/><Relationship Id="rId45" Type="http://schemas.openxmlformats.org/officeDocument/2006/relationships/slideLayout" Target="../slideLayouts/slideLayout90.xml"/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93.xml"/><Relationship Id="rId47" Type="http://schemas.openxmlformats.org/officeDocument/2006/relationships/slideLayout" Target="../slideLayouts/slideLayout92.xml"/><Relationship Id="rId49" Type="http://schemas.openxmlformats.org/officeDocument/2006/relationships/slideLayout" Target="../slideLayouts/slideLayout94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31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5.xml"/><Relationship Id="rId33" Type="http://schemas.openxmlformats.org/officeDocument/2006/relationships/slideLayout" Target="../slideLayouts/slideLayout78.xml"/><Relationship Id="rId32" Type="http://schemas.openxmlformats.org/officeDocument/2006/relationships/slideLayout" Target="../slideLayouts/slideLayout77.xml"/><Relationship Id="rId35" Type="http://schemas.openxmlformats.org/officeDocument/2006/relationships/slideLayout" Target="../slideLayouts/slideLayout80.xml"/><Relationship Id="rId34" Type="http://schemas.openxmlformats.org/officeDocument/2006/relationships/slideLayout" Target="../slideLayouts/slideLayout79.xml"/><Relationship Id="rId37" Type="http://schemas.openxmlformats.org/officeDocument/2006/relationships/slideLayout" Target="../slideLayouts/slideLayout82.xml"/><Relationship Id="rId36" Type="http://schemas.openxmlformats.org/officeDocument/2006/relationships/slideLayout" Target="../slideLayouts/slideLayout81.xml"/><Relationship Id="rId39" Type="http://schemas.openxmlformats.org/officeDocument/2006/relationships/slideLayout" Target="../slideLayouts/slideLayout84.xml"/><Relationship Id="rId38" Type="http://schemas.openxmlformats.org/officeDocument/2006/relationships/slideLayout" Target="../slideLayouts/slideLayout83.xml"/><Relationship Id="rId20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68.xml"/><Relationship Id="rId26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0.xml"/><Relationship Id="rId28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74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9" name="Google Shape;359;p47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360" name="Google Shape;360;p47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29" r:id="rId37"/>
    <p:sldLayoutId id="2147483730" r:id="rId38"/>
    <p:sldLayoutId id="2147483731" r:id="rId39"/>
    <p:sldLayoutId id="2147483732" r:id="rId40"/>
    <p:sldLayoutId id="2147483733" r:id="rId41"/>
    <p:sldLayoutId id="2147483734" r:id="rId42"/>
    <p:sldLayoutId id="2147483735" r:id="rId43"/>
    <p:sldLayoutId id="2147483736" r:id="rId44"/>
    <p:sldLayoutId id="2147483737" r:id="rId45"/>
    <p:sldLayoutId id="2147483738" r:id="rId46"/>
    <p:sldLayoutId id="2147483739" r:id="rId47"/>
    <p:sldLayoutId id="2147483740" r:id="rId48"/>
    <p:sldLayoutId id="2147483741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97"/>
          <p:cNvSpPr txBox="1"/>
          <p:nvPr>
            <p:ph type="title"/>
          </p:nvPr>
        </p:nvSpPr>
        <p:spPr>
          <a:xfrm>
            <a:off x="74600" y="2891050"/>
            <a:ext cx="87414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Carton-Mix Optimization for Walmart.com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Distribution Centers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41" name="Google Shape;1241;p97"/>
          <p:cNvSpPr txBox="1"/>
          <p:nvPr>
            <p:ph idx="1" type="subTitle"/>
          </p:nvPr>
        </p:nvSpPr>
        <p:spPr>
          <a:xfrm>
            <a:off x="130200" y="4291350"/>
            <a:ext cx="89520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"/>
                <a:ea typeface="Sora"/>
                <a:cs typeface="Sora"/>
                <a:sym typeface="Sora"/>
              </a:rPr>
              <a:t>A Paper by Sanjay L. Ahire, Manoj K. Malhotra, John B. Jensen                                                                            Date: 11-30-2025</a:t>
            </a:r>
            <a:endParaRPr sz="12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Sora"/>
                <a:ea typeface="Sora"/>
                <a:cs typeface="Sora"/>
                <a:sym typeface="Sora"/>
              </a:rPr>
              <a:t>Presented by Yash Sharma, Shravan Naikini, Srinath Manda</a:t>
            </a:r>
            <a:endParaRPr sz="11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98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1247" name="Google Shape;1247;p98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4. Analysis</a:t>
            </a:r>
            <a:endParaRPr sz="1200"/>
          </a:p>
        </p:txBody>
      </p:sp>
      <p:sp>
        <p:nvSpPr>
          <p:cNvPr id="1248" name="Google Shape;1248;p98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3. Model Overview</a:t>
            </a:r>
            <a:endParaRPr sz="1200"/>
          </a:p>
        </p:txBody>
      </p:sp>
      <p:sp>
        <p:nvSpPr>
          <p:cNvPr id="1249" name="Google Shape;1249;p98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2. Problem Description</a:t>
            </a:r>
            <a:r>
              <a:rPr lang="en"/>
              <a:t>	</a:t>
            </a:r>
            <a:endParaRPr/>
          </a:p>
        </p:txBody>
      </p:sp>
      <p:sp>
        <p:nvSpPr>
          <p:cNvPr id="1250" name="Google Shape;1250;p98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1. Introduction and Objective</a:t>
            </a:r>
            <a:endParaRPr sz="1200"/>
          </a:p>
        </p:txBody>
      </p:sp>
      <p:sp>
        <p:nvSpPr>
          <p:cNvPr id="1251" name="Google Shape;1251;p98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6. Review</a:t>
            </a:r>
            <a:endParaRPr sz="1200"/>
          </a:p>
        </p:txBody>
      </p:sp>
      <p:sp>
        <p:nvSpPr>
          <p:cNvPr id="1252" name="Google Shape;1252;p98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5. Results and </a:t>
            </a:r>
            <a:r>
              <a:rPr lang="en" sz="1200"/>
              <a:t>Conclusions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99"/>
          <p:cNvSpPr txBox="1"/>
          <p:nvPr>
            <p:ph idx="2" type="body"/>
          </p:nvPr>
        </p:nvSpPr>
        <p:spPr>
          <a:xfrm>
            <a:off x="4631450" y="633450"/>
            <a:ext cx="4218900" cy="40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As Walmart’s business grew, </a:t>
            </a: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Distribution</a:t>
            </a: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 Centers [DCs] were needed to be made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Primarily on fulfilling orders that customers place online through the Walmart.com website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The CDC was using a suboptimal "carton mix" [the specific set of box sizes available]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Ex] Carrollton, </a:t>
            </a: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Georgia</a:t>
            </a: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 DC [ CDC ]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914400" rtl="0" algn="l">
              <a:spcBef>
                <a:spcPts val="800"/>
              </a:spcBef>
              <a:spcAft>
                <a:spcPts val="0"/>
              </a:spcAft>
              <a:buSzPts val="1600"/>
              <a:buFont typeface="IBM Plex Sans Medium"/>
              <a:buChar char="○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100,000 shipments daily during peak periods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58" name="Google Shape;1258;p99"/>
          <p:cNvSpPr txBox="1"/>
          <p:nvPr>
            <p:ph idx="3" type="title"/>
          </p:nvPr>
        </p:nvSpPr>
        <p:spPr>
          <a:xfrm>
            <a:off x="115025" y="502775"/>
            <a:ext cx="39054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&amp; Objective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100"/>
          <p:cNvSpPr txBox="1"/>
          <p:nvPr>
            <p:ph idx="1" type="body"/>
          </p:nvPr>
        </p:nvSpPr>
        <p:spPr>
          <a:xfrm>
            <a:off x="220350" y="656400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1264" name="Google Shape;1264;p100"/>
          <p:cNvSpPr txBox="1"/>
          <p:nvPr>
            <p:ph idx="4294967295" type="body"/>
          </p:nvPr>
        </p:nvSpPr>
        <p:spPr>
          <a:xfrm>
            <a:off x="220350" y="1306625"/>
            <a:ext cx="4218900" cy="33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Misalignment between product size and carton size leads to "shipping air", and higher shipping charges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Develop a solution for optimal carton sizes for both automated/manual packing lines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Goal: Minimize the Total Order-Fulfillment Cost [TOFC]: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80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Material costs [carton + void-fill]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Labor costs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Shipping costs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01"/>
          <p:cNvSpPr txBox="1"/>
          <p:nvPr>
            <p:ph idx="2" type="body"/>
          </p:nvPr>
        </p:nvSpPr>
        <p:spPr>
          <a:xfrm>
            <a:off x="4599450" y="425250"/>
            <a:ext cx="4218900" cy="4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The Core Conflict: Walmart must balance Material/Shipping Costs against Operational Efficiency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The Trade-off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Too Few Sizes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 Wastes shipping space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Too Many Sizes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Increases complexity, causing frequent machine changeovers/labor downtime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80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We want to find the optimal specifications for a small set of boxes to fit the most products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70" name="Google Shape;1270;p101"/>
          <p:cNvSpPr txBox="1"/>
          <p:nvPr>
            <p:ph idx="3" type="title"/>
          </p:nvPr>
        </p:nvSpPr>
        <p:spPr>
          <a:xfrm>
            <a:off x="115025" y="502775"/>
            <a:ext cx="39054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Description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102"/>
          <p:cNvSpPr txBox="1"/>
          <p:nvPr>
            <p:ph type="title"/>
          </p:nvPr>
        </p:nvSpPr>
        <p:spPr>
          <a:xfrm>
            <a:off x="3368775" y="1709075"/>
            <a:ext cx="19392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Char char="●"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I</a:t>
            </a: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nvolves both discrete decisions (selecting specific box sizes) and continuous variables [dimensions and costs]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276" name="Google Shape;1276;p102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02"/>
          <p:cNvSpPr txBox="1"/>
          <p:nvPr>
            <p:ph idx="6" type="title"/>
          </p:nvPr>
        </p:nvSpPr>
        <p:spPr>
          <a:xfrm>
            <a:off x="3489525" y="1287875"/>
            <a:ext cx="54318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Mixed-Integer Model    Decision Variables</a:t>
            </a:r>
            <a:endParaRPr/>
          </a:p>
        </p:txBody>
      </p:sp>
      <p:sp>
        <p:nvSpPr>
          <p:cNvPr id="1278" name="Google Shape;1278;p102"/>
          <p:cNvSpPr/>
          <p:nvPr/>
        </p:nvSpPr>
        <p:spPr>
          <a:xfrm flipH="1" rot="10800000">
            <a:off x="3820750" y="1627625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79" name="Google Shape;1279;p102"/>
          <p:cNvSpPr txBox="1"/>
          <p:nvPr>
            <p:ph type="title"/>
          </p:nvPr>
        </p:nvSpPr>
        <p:spPr>
          <a:xfrm>
            <a:off x="5263275" y="1709075"/>
            <a:ext cx="1884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Sans Medium"/>
              <a:buChar char="●"/>
            </a:pPr>
            <a:r>
              <a:rPr lang="en" sz="120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Carton Count</a:t>
            </a:r>
            <a:endParaRPr sz="1200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The number of discrete carton sizes to be active in the system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80" name="Google Shape;1280;p102"/>
          <p:cNvSpPr txBox="1"/>
          <p:nvPr>
            <p:ph type="title"/>
          </p:nvPr>
        </p:nvSpPr>
        <p:spPr>
          <a:xfrm>
            <a:off x="7127350" y="1709075"/>
            <a:ext cx="20166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Char char="●"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Dimensions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The specific specifications (Length, Width, Height) for each of the  k cartons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103"/>
          <p:cNvSpPr txBox="1"/>
          <p:nvPr>
            <p:ph idx="1" type="body"/>
          </p:nvPr>
        </p:nvSpPr>
        <p:spPr>
          <a:xfrm>
            <a:off x="220350" y="656400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Analysis </a:t>
            </a:r>
            <a:r>
              <a:rPr lang="en" sz="2500"/>
              <a:t>Objective Function</a:t>
            </a:r>
            <a:endParaRPr sz="2500"/>
          </a:p>
        </p:txBody>
      </p:sp>
      <p:sp>
        <p:nvSpPr>
          <p:cNvPr id="1286" name="Google Shape;1286;p103"/>
          <p:cNvSpPr txBox="1"/>
          <p:nvPr>
            <p:ph idx="4294967295" type="body"/>
          </p:nvPr>
        </p:nvSpPr>
        <p:spPr>
          <a:xfrm>
            <a:off x="220350" y="1306625"/>
            <a:ext cx="4218900" cy="11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The Objective Equation: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Minimize TOFC 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↳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Material Cost + Void Fill Cost + Shipping Cost + Labor Cost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87" name="Google Shape;1287;p103"/>
          <p:cNvSpPr txBox="1"/>
          <p:nvPr>
            <p:ph idx="4294967295" type="body"/>
          </p:nvPr>
        </p:nvSpPr>
        <p:spPr>
          <a:xfrm>
            <a:off x="400050" y="2697450"/>
            <a:ext cx="4218900" cy="23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Material Cost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price of the specific cardboard box used for the order.[ Price =$0.0014 x (Volume) - $0.11]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Void Fill Cost 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Cost of the paper dunnage needed to fill the empty air "gap" between the product and the box. [ Volume carton - Volume prod]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88" name="Google Shape;1288;p103"/>
          <p:cNvSpPr txBox="1"/>
          <p:nvPr>
            <p:ph idx="4294967295" type="body"/>
          </p:nvPr>
        </p:nvSpPr>
        <p:spPr>
          <a:xfrm>
            <a:off x="4693350" y="1167500"/>
            <a:ext cx="4218900" cy="19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Shipping Cost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Freight charges based on the "Charged Weight" (the higher of actual weight/dimensional weight)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Labor Cost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The direct wages paid for manually erecting and packing cartons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04"/>
          <p:cNvSpPr txBox="1"/>
          <p:nvPr>
            <p:ph idx="4294967295" type="body"/>
          </p:nvPr>
        </p:nvSpPr>
        <p:spPr>
          <a:xfrm>
            <a:off x="220350" y="656400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3600">
                <a:latin typeface="IBM Plex Sans"/>
                <a:ea typeface="IBM Plex Sans"/>
                <a:cs typeface="IBM Plex Sans"/>
                <a:sym typeface="IBM Plex Sans"/>
              </a:rPr>
              <a:t>Analysis </a:t>
            </a:r>
            <a:r>
              <a:rPr lang="en" sz="2500">
                <a:latin typeface="IBM Plex Sans"/>
                <a:ea typeface="IBM Plex Sans"/>
                <a:cs typeface="IBM Plex Sans"/>
                <a:sym typeface="IBM Plex Sans"/>
              </a:rPr>
              <a:t>Constraints</a:t>
            </a:r>
            <a:endParaRPr sz="1600"/>
          </a:p>
        </p:txBody>
      </p:sp>
      <p:sp>
        <p:nvSpPr>
          <p:cNvPr id="1294" name="Google Shape;1294;p104"/>
          <p:cNvSpPr txBox="1"/>
          <p:nvPr>
            <p:ph idx="2" type="body"/>
          </p:nvPr>
        </p:nvSpPr>
        <p:spPr>
          <a:xfrm>
            <a:off x="400050" y="2697450"/>
            <a:ext cx="4218900" cy="11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Manual Limits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Restricted to 6 carton sizes maximum, Limited physical space to stack box inventory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95" name="Google Shape;1295;p104"/>
          <p:cNvSpPr txBox="1"/>
          <p:nvPr>
            <p:ph idx="2" type="body"/>
          </p:nvPr>
        </p:nvSpPr>
        <p:spPr>
          <a:xfrm>
            <a:off x="4789100" y="1255050"/>
            <a:ext cx="4218900" cy="8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Demand Limit: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Every single-unit order must fit into at least one of the chosen box sizes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96" name="Google Shape;1296;p104"/>
          <p:cNvSpPr txBox="1"/>
          <p:nvPr>
            <p:ph idx="2" type="body"/>
          </p:nvPr>
        </p:nvSpPr>
        <p:spPr>
          <a:xfrm>
            <a:off x="474450" y="1302750"/>
            <a:ext cx="4218900" cy="11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Automation Limits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Restricted to 4 carton sizes total (one for each machine line) eliminates downtime for adjustments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97" name="Google Shape;1297;p104"/>
          <p:cNvSpPr txBox="1"/>
          <p:nvPr>
            <p:ph idx="2" type="body"/>
          </p:nvPr>
        </p:nvSpPr>
        <p:spPr>
          <a:xfrm>
            <a:off x="4789100" y="2866650"/>
            <a:ext cx="4218900" cy="11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Physical Limits: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Must fall between 8 x 6 x 5  and 36 x 24 x 18 inches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 Length must be less than 1.2 x Width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05"/>
          <p:cNvSpPr txBox="1"/>
          <p:nvPr>
            <p:ph idx="4294967295" type="body"/>
          </p:nvPr>
        </p:nvSpPr>
        <p:spPr>
          <a:xfrm>
            <a:off x="220350" y="656400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3600">
                <a:latin typeface="IBM Plex Sans"/>
                <a:ea typeface="IBM Plex Sans"/>
                <a:cs typeface="IBM Plex Sans"/>
                <a:sym typeface="IBM Plex Sans"/>
              </a:rPr>
              <a:t>Analysis </a:t>
            </a:r>
            <a:r>
              <a:rPr lang="en" sz="2500">
                <a:latin typeface="IBM Plex Sans"/>
                <a:ea typeface="IBM Plex Sans"/>
                <a:cs typeface="IBM Plex Sans"/>
                <a:sym typeface="IBM Plex Sans"/>
              </a:rPr>
              <a:t>Methodology</a:t>
            </a:r>
            <a:endParaRPr sz="2500"/>
          </a:p>
        </p:txBody>
      </p:sp>
      <p:sp>
        <p:nvSpPr>
          <p:cNvPr id="1303" name="Google Shape;1303;p105"/>
          <p:cNvSpPr txBox="1"/>
          <p:nvPr>
            <p:ph idx="2" type="body"/>
          </p:nvPr>
        </p:nvSpPr>
        <p:spPr>
          <a:xfrm>
            <a:off x="400050" y="2697450"/>
            <a:ext cx="4218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IBM Plex Sans Medium"/>
                <a:ea typeface="IBM Plex Sans Medium"/>
                <a:cs typeface="IBM Plex Sans Medium"/>
                <a:sym typeface="IBM Plex Sans Medium"/>
              </a:rPr>
              <a:t>Why?</a:t>
            </a:r>
            <a:endParaRPr sz="19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Complexity: 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The combinatorial nature of selecting discrete box sizes for thousands of varying products makes finding an exact mathematical optimal solution computationally prohibitive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04" name="Google Shape;1304;p105"/>
          <p:cNvSpPr txBox="1"/>
          <p:nvPr>
            <p:ph idx="2" type="body"/>
          </p:nvPr>
        </p:nvSpPr>
        <p:spPr>
          <a:xfrm>
            <a:off x="4789100" y="1255050"/>
            <a:ext cx="4218900" cy="11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Usability: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Required a transparent tool rather than a "black box" algorithm, ensuring they could validate the logic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05" name="Google Shape;1305;p105"/>
          <p:cNvSpPr txBox="1"/>
          <p:nvPr>
            <p:ph idx="2" type="body"/>
          </p:nvPr>
        </p:nvSpPr>
        <p:spPr>
          <a:xfrm>
            <a:off x="474450" y="1302750"/>
            <a:ext cx="4218900" cy="14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The team developed a custom Optimization Heuristic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Deliberately chose this over commercial solvers (like CPLEX) to address specific organizational needs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06" name="Google Shape;1306;p105"/>
          <p:cNvSpPr txBox="1"/>
          <p:nvPr>
            <p:ph idx="2" type="body"/>
          </p:nvPr>
        </p:nvSpPr>
        <p:spPr>
          <a:xfrm>
            <a:off x="4789100" y="2866650"/>
            <a:ext cx="4218900" cy="13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Physical Limits: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Provides the adaptability needed to easily reconfigure carton mixes for distinct demand cycles, 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EX] Peak VS Non-Peak seasons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106"/>
          <p:cNvSpPr txBox="1"/>
          <p:nvPr>
            <p:ph idx="1" type="body"/>
          </p:nvPr>
        </p:nvSpPr>
        <p:spPr>
          <a:xfrm>
            <a:off x="220350" y="656400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Analysis </a:t>
            </a:r>
            <a:r>
              <a:rPr lang="en" sz="2500"/>
              <a:t>Algorithm Logic</a:t>
            </a:r>
            <a:endParaRPr sz="2500"/>
          </a:p>
        </p:txBody>
      </p:sp>
      <p:sp>
        <p:nvSpPr>
          <p:cNvPr id="1312" name="Google Shape;1312;p106"/>
          <p:cNvSpPr txBox="1"/>
          <p:nvPr>
            <p:ph idx="4294967295" type="body"/>
          </p:nvPr>
        </p:nvSpPr>
        <p:spPr>
          <a:xfrm>
            <a:off x="220350" y="1306625"/>
            <a:ext cx="4218900" cy="14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Step 1: Line Balancing &amp; Assignment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80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Assigns one carton size per automated line to eliminate changeovers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Target sizes are chosen to balance the volume of orders across all lines 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13" name="Google Shape;1313;p106"/>
          <p:cNvSpPr txBox="1"/>
          <p:nvPr>
            <p:ph idx="4294967295" type="body"/>
          </p:nvPr>
        </p:nvSpPr>
        <p:spPr>
          <a:xfrm>
            <a:off x="4693350" y="1167500"/>
            <a:ext cx="4218900" cy="22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Length is Set to fit 110% of the longest product in the cluster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Width is set to fit 90% of demand, adjusted downwards to ensure stability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Step 3: Cost Minimization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80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M</a:t>
            </a: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odel runs scenarios (3, 4, or 5 box sizes) and calculates the total cost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↳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 Material + Void Fill + Shipping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14" name="Google Shape;1314;p106"/>
          <p:cNvSpPr txBox="1"/>
          <p:nvPr>
            <p:ph idx="4294967295" type="body"/>
          </p:nvPr>
        </p:nvSpPr>
        <p:spPr>
          <a:xfrm>
            <a:off x="220350" y="3337800"/>
            <a:ext cx="4218900" cy="13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Step 2: Sorting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80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S</a:t>
            </a: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orted by Length, then Width, then Height to find clusters of similar items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07"/>
          <p:cNvSpPr txBox="1"/>
          <p:nvPr>
            <p:ph idx="3" type="title"/>
          </p:nvPr>
        </p:nvSpPr>
        <p:spPr>
          <a:xfrm>
            <a:off x="115025" y="502775"/>
            <a:ext cx="3905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r>
              <a:rPr lang="en" sz="2500"/>
              <a:t>Financial</a:t>
            </a:r>
            <a:r>
              <a:rPr lang="en"/>
              <a:t> </a:t>
            </a:r>
            <a:endParaRPr sz="3100"/>
          </a:p>
        </p:txBody>
      </p:sp>
      <p:sp>
        <p:nvSpPr>
          <p:cNvPr id="1320" name="Google Shape;1320;p107"/>
          <p:cNvSpPr txBox="1"/>
          <p:nvPr>
            <p:ph idx="1" type="body"/>
          </p:nvPr>
        </p:nvSpPr>
        <p:spPr>
          <a:xfrm>
            <a:off x="4257000" y="1215875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Actual Certified Savings: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Post-implementation, Walmart finance certified actual savings of $600,000 annually at the Carrollton facility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Network-Wide Impact: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Total projected savings across the entire Walmart.com network were estimated at $2 million annually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21" name="Google Shape;1321;p107"/>
          <p:cNvSpPr txBox="1"/>
          <p:nvPr>
            <p:ph idx="2" type="body"/>
          </p:nvPr>
        </p:nvSpPr>
        <p:spPr>
          <a:xfrm>
            <a:off x="158725" y="1215863"/>
            <a:ext cx="4218900" cy="3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Pilot Period Savings: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Saved $78,336 during the 3-week peak season analysis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Savings were driven by a 14.1% cost reduction in manual cartons and a 2% reduction in automated cartons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Annualized Savings: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Projected annual savings for single-unit orders at Carrollton DC: $394,700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08"/>
          <p:cNvSpPr txBox="1"/>
          <p:nvPr>
            <p:ph idx="3" type="title"/>
          </p:nvPr>
        </p:nvSpPr>
        <p:spPr>
          <a:xfrm>
            <a:off x="115025" y="502775"/>
            <a:ext cx="3905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r>
              <a:rPr lang="en" sz="2500"/>
              <a:t>Conclusions</a:t>
            </a:r>
            <a:endParaRPr sz="3100"/>
          </a:p>
        </p:txBody>
      </p:sp>
      <p:sp>
        <p:nvSpPr>
          <p:cNvPr id="1327" name="Google Shape;1327;p108"/>
          <p:cNvSpPr txBox="1"/>
          <p:nvPr>
            <p:ph idx="1" type="body"/>
          </p:nvPr>
        </p:nvSpPr>
        <p:spPr>
          <a:xfrm>
            <a:off x="4377625" y="1215875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Comprehensive Cost Modeling: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Model integrated shipping and void-fill expenses, avoiding the pitfall of only minimizing material costs and addressing the hidden cost of "shipping air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Validated Impact: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Certified by Walmart’s internal finance team ($600k actual savings), proving the model’s real-world robustness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28" name="Google Shape;1328;p108"/>
          <p:cNvSpPr txBox="1"/>
          <p:nvPr>
            <p:ph idx="2" type="body"/>
          </p:nvPr>
        </p:nvSpPr>
        <p:spPr>
          <a:xfrm>
            <a:off x="158725" y="1215863"/>
            <a:ext cx="4218900" cy="3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Practicality Over Perfection: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The authors prioritized a usable solution over a theoretically "perfect" one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By choosing a heuristic over a complex solver, they ensured the tool was actually adopted and maintained by Walmart managers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09"/>
          <p:cNvSpPr txBox="1"/>
          <p:nvPr>
            <p:ph idx="3" type="title"/>
          </p:nvPr>
        </p:nvSpPr>
        <p:spPr>
          <a:xfrm>
            <a:off x="115025" y="502775"/>
            <a:ext cx="8634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r>
              <a:rPr lang="en" sz="2500"/>
              <a:t>Conclusions/Limitations</a:t>
            </a:r>
            <a:endParaRPr sz="3100"/>
          </a:p>
        </p:txBody>
      </p:sp>
      <p:sp>
        <p:nvSpPr>
          <p:cNvPr id="1334" name="Google Shape;1334;p109"/>
          <p:cNvSpPr txBox="1"/>
          <p:nvPr>
            <p:ph idx="1" type="body"/>
          </p:nvPr>
        </p:nvSpPr>
        <p:spPr>
          <a:xfrm>
            <a:off x="4377625" y="1215875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Scope Limitation: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Model covers only single-unit orders (75% of volume)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Multi-unit orders still use a separate, pre-existing fluid-packing algorithm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Static Nature: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Current model solves for a static "Peak" or "Non-Peak" period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A dynamic model that adjusts carton sizes based on real-time demand could yield higher savings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35" name="Google Shape;1335;p109"/>
          <p:cNvSpPr txBox="1"/>
          <p:nvPr>
            <p:ph idx="2" type="body"/>
          </p:nvPr>
        </p:nvSpPr>
        <p:spPr>
          <a:xfrm>
            <a:off x="158725" y="1215863"/>
            <a:ext cx="4218900" cy="3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Heuristic vs. Optimization: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Relies on an approximate method (heuristic) rather than an exact algorithm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IBM Plex Sans Medium"/>
              <a:buChar char="○"/>
            </a:pPr>
            <a:r>
              <a:rPr lang="en" sz="1300">
                <a:latin typeface="IBM Plex Sans Medium"/>
                <a:ea typeface="IBM Plex Sans Medium"/>
                <a:cs typeface="IBM Plex Sans Medium"/>
                <a:sym typeface="IBM Plex Sans Medium"/>
              </a:rPr>
              <a:t>There is no mathematical guarantee that the global optimal solution was found</a:t>
            </a:r>
            <a:endParaRPr sz="13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110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away!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111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